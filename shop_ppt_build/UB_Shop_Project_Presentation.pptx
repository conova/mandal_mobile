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4023360" cy="1737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800" kern="0" dirty="0">
                <a:solidFill>
                  <a:srgbClr val="F2A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• Microservices • Docker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ДЭЛГҮҮРИЙН СИСТЕМ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691640"/>
            <a:ext cx="7132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13–15 ба Project III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Микросервис архитектурын танилцуулга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0" y="38404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2A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8404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38404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2A3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38404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10.1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23760" y="38404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2A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38404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86800" y="38404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2A3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38404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287000" y="38404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2A3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87000" y="38404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62179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Илтгэгч: Дигий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ТАНИЛЦУУЛГЫН АГУУЛГА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Илтгэлийн бүтэц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0200" y="1737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Төслийн ерөнхий тойм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2148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Дэлгүүр + Project III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691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60920" y="1737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Технологийн стек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60920" y="2148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Tomcat, Spring Boot, PostgreSQL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43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00200" y="2788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13 — Монолит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3200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+ Servlet + Docker WAR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743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743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60920" y="2788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14 — Microservices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60920" y="3200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book-service / db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94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00200" y="3840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15 — CI/CD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4251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pipeline (compile→dockerize)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379476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794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60920" y="3840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III — Thesis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60920" y="4251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микросервис + DB-per-service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8463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600200" y="4892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 үр дүн ба дүгнэлт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600200" y="5303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Сургамж, дараагийн алхам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ТӨСЛИЙН ТОЙМ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Юу хийсэн бэ?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Хоёр зэрэгцэх системийг нэг repo дотор бүтээсэн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164592" cy="164592"/>
          </a:xfrm>
          <a:prstGeom prst="ellipse">
            <a:avLst/>
          </a:prstGeom>
          <a:solidFill>
            <a:srgbClr val="F2A34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6974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13–15: </a:t>
            </a:r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Дэлгүүрийн систем — монолитоос микросервис рүү шилжсэн ном/бараа худалдааны платформ.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164592" cy="164592"/>
          </a:xfrm>
          <a:prstGeom prst="ellipse">
            <a:avLst/>
          </a:prstGeom>
          <a:solidFill>
            <a:srgbClr val="F2A341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7490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III: </a:t>
            </a:r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 сургуулийн дипломын ажил бүртгэх систем — student / thesis / notification гэсэн 3 микросервис.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846320"/>
            <a:ext cx="164592" cy="164592"/>
          </a:xfrm>
          <a:prstGeom prst="ellipse">
            <a:avLst/>
          </a:prstGeom>
          <a:solidFill>
            <a:srgbClr val="F2A34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8006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Үндсэн зорилго: </a:t>
            </a:r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Монолит → Container → Compose → CI/CD → Microservices гэсэн ахисан түвшний DevOps урсгал.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691640"/>
            <a:ext cx="109728" cy="2057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92024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653796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98280" y="169164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1691640"/>
            <a:ext cx="109728" cy="2057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192024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932688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931920"/>
            <a:ext cx="109728" cy="2057400"/>
          </a:xfrm>
          <a:prstGeom prst="rect">
            <a:avLst/>
          </a:prstGeom>
          <a:solidFill>
            <a:srgbClr val="F2A341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16052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2A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6537960" y="5303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stage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098280" y="393192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98280" y="3931920"/>
            <a:ext cx="109728" cy="2057400"/>
          </a:xfrm>
          <a:prstGeom prst="rect">
            <a:avLst/>
          </a:prstGeom>
          <a:solidFill>
            <a:srgbClr val="2DAA73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0" y="416052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2DA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7200" dirty="0"/>
          </a:p>
        </p:txBody>
      </p:sp>
      <p:sp>
        <p:nvSpPr>
          <p:cNvPr id="27" name="Text 25"/>
          <p:cNvSpPr/>
          <p:nvPr/>
        </p:nvSpPr>
        <p:spPr>
          <a:xfrm>
            <a:off x="9326880" y="5303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хувилбар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ТЕХНОЛОГИЙН СТЕК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Хэрэглэсэн хэрэгслүүд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60604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(Temurin)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Servlet 6.0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(microservices)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3.9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69480" y="2011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69480" y="260604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15-alpine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(embedded fallback)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connector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+ init.sql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97680"/>
            <a:ext cx="640080" cy="640080"/>
          </a:xfrm>
          <a:prstGeom prst="ellipse">
            <a:avLst/>
          </a:prstGeom>
          <a:solidFill>
            <a:srgbClr val="F2A34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343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UI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93776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(desktop)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+ Servlet (web)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frontend-service контейнер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JSON API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297680"/>
            <a:ext cx="640080" cy="640080"/>
          </a:xfrm>
          <a:prstGeom prst="ellipse">
            <a:avLst/>
          </a:prstGeom>
          <a:solidFill>
            <a:srgbClr val="2DAA7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69480" y="4343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69480" y="493776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10.1-jdk17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CI/CD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Dockerized монолит апп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Бэлэн Swing desktop апп + Java Servlet вебийг нэг WAR файл болгож Tomcat дээр Dockerized хэлбэрээр deploy хийсэн.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8620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Monolith WAR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363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shop-app.war → Tomcat ROOT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59359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57530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image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384962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tomcat:10.1-jdk17 base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06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428853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 fallback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56285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DB_URL env → MySQL/PG/H2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02005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20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500176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527608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/app/db persisted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169164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0B1E33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9400" y="2194560"/>
            <a:ext cx="4800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tomcat:10.1-jdk17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rm -rf /usr/local/tomcat/webapps/* \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mkdir -p /app/db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DB_URL="jdbc:h2:file:/app/db/shopdb"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DB_USER="sa"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DB_PASSWORD=""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target/*.war \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/usr/local/tomcat/webapps/ROOT.war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["catalina.sh", "run"]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Compose-р үйлчилгээ салгах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61188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frontend-service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8080 (host)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Хэрэглэгчийн нүүр хуудас, JSON API руу прокси.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737360"/>
            <a:ext cx="361188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book-service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25146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JSON 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8346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 /api/books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3154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Зөвхөн Docker сүлжээнд харагдана.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173736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737360"/>
            <a:ext cx="3611880" cy="320040"/>
          </a:xfrm>
          <a:prstGeom prst="rect">
            <a:avLst/>
          </a:prstGeom>
          <a:solidFill>
            <a:srgbClr val="F2A341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(postgres)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58200" y="25146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58200" y="28346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shop_db • init.sql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58200" y="3154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volume + healthcheck.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69080" y="2651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909560" y="2651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11109960" cy="2057400"/>
          </a:xfrm>
          <a:prstGeom prst="roundRect">
            <a:avLst>
              <a:gd name="adj" fmla="val 3556"/>
            </a:avLst>
          </a:prstGeom>
          <a:solidFill>
            <a:srgbClr val="0B1E33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docker-compose.yml-ийн гол санаа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754880"/>
            <a:ext cx="10515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Зөвхөн frontend ports: "8080:8080" — нийтэд нээлттэй.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book-service ба db нь дотоод Docker network дээр л харилцана (port mapping байхгүй).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+ healthcheck → DB бэлэн болсны дараа л API асна.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init.sql нь анх удаа эхлэхэд автомат seed хийнэ.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GitLab CI/CD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clean compile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бүх 4 модуль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82112" y="251460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456432" y="178308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39312" y="2331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39312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test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9904" y="251460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364224" y="178308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25400">
            <a:solidFill>
              <a:srgbClr val="F2A3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47104" y="2331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47104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*.war + *.jar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цаг хадгална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97696" y="251460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9272016" y="178308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25400">
            <a:solidFill>
              <a:srgbClr val="2DAA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54896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A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54896" y="2331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dockerize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454896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Registry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572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731520" y="5532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56432" y="43434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9312" y="4572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3639312" y="5532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гүйцэлдэх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64224" y="43434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47104" y="4572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A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.m2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6547104" y="5532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хадгалах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272016" y="43434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54896" y="4572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DA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1ц</a:t>
            </a:r>
            <a:endParaRPr lang="en-US" sz="4400" dirty="0"/>
          </a:p>
        </p:txBody>
      </p:sp>
      <p:sp>
        <p:nvSpPr>
          <p:cNvPr id="34" name="Text 32"/>
          <p:cNvSpPr/>
          <p:nvPr/>
        </p:nvSpPr>
        <p:spPr>
          <a:xfrm>
            <a:off x="9454896" y="5532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артифакт хугацаа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Микросервис архитектур — Database per service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student-service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4206240"/>
            <a:ext cx="2011680" cy="365760"/>
          </a:xfrm>
          <a:prstGeom prst="ellipse">
            <a:avLst/>
          </a:prstGeom>
          <a:solidFill>
            <a:srgbClr val="0B1E33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4389120"/>
            <a:ext cx="2011680" cy="914400"/>
          </a:xfrm>
          <a:prstGeom prst="rect">
            <a:avLst/>
          </a:prstGeom>
          <a:solidFill>
            <a:srgbClr val="0B1E33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5120640"/>
            <a:ext cx="2011680" cy="365760"/>
          </a:xfrm>
          <a:prstGeom prst="ellipse">
            <a:avLst/>
          </a:prstGeom>
          <a:solidFill>
            <a:srgbClr val="0B1E33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572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student-db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3246120"/>
            <a:ext cx="0" cy="960120"/>
          </a:xfrm>
          <a:prstGeom prst="line">
            <a:avLst/>
          </a:prstGeom>
          <a:noFill/>
          <a:ln w="19050">
            <a:solidFill>
              <a:srgbClr val="5A6B7B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617720" y="178308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920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thesis-service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00600" y="2423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57800" y="4206240"/>
            <a:ext cx="2011680" cy="365760"/>
          </a:xfrm>
          <a:prstGeom prst="ellipse">
            <a:avLst/>
          </a:prstGeom>
          <a:solidFill>
            <a:srgbClr val="0B1E33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4389120"/>
            <a:ext cx="2011680" cy="914400"/>
          </a:xfrm>
          <a:prstGeom prst="rect">
            <a:avLst/>
          </a:prstGeom>
          <a:solidFill>
            <a:srgbClr val="0B1E33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7800" y="5120640"/>
            <a:ext cx="2011680" cy="365760"/>
          </a:xfrm>
          <a:prstGeom prst="ellipse">
            <a:avLst/>
          </a:prstGeom>
          <a:solidFill>
            <a:srgbClr val="0B1E33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4572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thesis-db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4937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3246120"/>
            <a:ext cx="0" cy="960120"/>
          </a:xfrm>
          <a:prstGeom prst="line">
            <a:avLst/>
          </a:prstGeom>
          <a:noFill/>
          <a:ln w="19050">
            <a:solidFill>
              <a:srgbClr val="5A6B7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595360" y="178308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F2A341"/>
          </a:solidFill>
          <a:ln/>
        </p:spPr>
      </p:sp>
      <p:sp>
        <p:nvSpPr>
          <p:cNvPr id="25" name="Text 23"/>
          <p:cNvSpPr/>
          <p:nvPr/>
        </p:nvSpPr>
        <p:spPr>
          <a:xfrm>
            <a:off x="8778240" y="1920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notification-service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778240" y="2423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7824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235440" y="4206240"/>
            <a:ext cx="2011680" cy="365760"/>
          </a:xfrm>
          <a:prstGeom prst="ellipse">
            <a:avLst/>
          </a:prstGeom>
          <a:solidFill>
            <a:srgbClr val="0B1E33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35440" y="4389120"/>
            <a:ext cx="2011680" cy="914400"/>
          </a:xfrm>
          <a:prstGeom prst="rect">
            <a:avLst/>
          </a:prstGeom>
          <a:solidFill>
            <a:srgbClr val="0B1E33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35440" y="5120640"/>
            <a:ext cx="2011680" cy="365760"/>
          </a:xfrm>
          <a:prstGeom prst="ellipse">
            <a:avLst/>
          </a:prstGeom>
          <a:solidFill>
            <a:srgbClr val="0B1E33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4572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notification-db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78240" y="4937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41280" y="3246120"/>
            <a:ext cx="0" cy="960120"/>
          </a:xfrm>
          <a:prstGeom prst="line">
            <a:avLst/>
          </a:prstGeom>
          <a:noFill/>
          <a:ln w="19050">
            <a:solidFill>
              <a:srgbClr val="5A6B7B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3657600" y="2103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studentId →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2331720"/>
            <a:ext cx="-6400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589520" y="2103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created notify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09560" y="2331720"/>
            <a:ext cx="685800" cy="0"/>
          </a:xfrm>
          <a:prstGeom prst="line">
            <a:avLst/>
          </a:prstGeom>
          <a:noFill/>
          <a:ln w="25400">
            <a:solidFill>
              <a:srgbClr val="F2A34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40080" y="576072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0B1E33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57607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 зарчим: тус бүр өөрийн DB-тэй (database-per-service) — REST дуудлагаар л харилцана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Үйлчилгээ тус бүрийн үүрэг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64592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student-service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0" y="2194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/students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/students/{id}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ҮҮРЭГ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9520" y="219456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Оюутны мастер дата. Бусад үйлчилгээ үүнээс studentId-г баталгаажуулна.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00400"/>
            <a:ext cx="164592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thesis-service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3337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0" y="36118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/theses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/theses/{id}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9520" y="3337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ҮҮРЭГ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0" y="361188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Дипломын ажил үүсгэх, student-service-ээр шалгаад notification-service руу мэдэгдэл илгээнэ.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617720"/>
            <a:ext cx="164592" cy="1280160"/>
          </a:xfrm>
          <a:prstGeom prst="rect">
            <a:avLst/>
          </a:prstGeom>
          <a:solidFill>
            <a:srgbClr val="F2A341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notification-service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5257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0" y="50292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/notifications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/notifications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ҮҮРЭГ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502920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Бүх системийн event log. Шинэ диплом нэмэгдсэн мэдэгдлийг хадгална.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ХАРИЛЦАА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Шинэ диплом үүсэх дараалал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5A6B7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2286000"/>
            <a:ext cx="0" cy="3657600"/>
          </a:xfrm>
          <a:prstGeom prst="line">
            <a:avLst/>
          </a:prstGeom>
          <a:noFill/>
          <a:ln w="12700">
            <a:solidFill>
              <a:srgbClr val="D6DEE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246120" y="178308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1783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thesis-service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2286000"/>
            <a:ext cx="0" cy="3657600"/>
          </a:xfrm>
          <a:prstGeom prst="line">
            <a:avLst/>
          </a:prstGeom>
          <a:noFill/>
          <a:ln w="12700">
            <a:solidFill>
              <a:srgbClr val="D6DEE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172200" y="178308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783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student-service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2286000"/>
            <a:ext cx="0" cy="3657600"/>
          </a:xfrm>
          <a:prstGeom prst="line">
            <a:avLst/>
          </a:prstGeom>
          <a:noFill/>
          <a:ln w="12700">
            <a:solidFill>
              <a:srgbClr val="D6DEE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098280" y="178308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2A341"/>
          </a:solidFill>
          <a:ln/>
        </p:spPr>
      </p:sp>
      <p:sp>
        <p:nvSpPr>
          <p:cNvPr id="14" name="Text 12"/>
          <p:cNvSpPr/>
          <p:nvPr/>
        </p:nvSpPr>
        <p:spPr>
          <a:xfrm>
            <a:off x="9098280" y="1783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notification-service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875520" y="2286000"/>
            <a:ext cx="0" cy="3657600"/>
          </a:xfrm>
          <a:prstGeom prst="line">
            <a:avLst/>
          </a:prstGeom>
          <a:noFill/>
          <a:ln w="12700">
            <a:solidFill>
              <a:srgbClr val="D6DEE5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463040" y="2606040"/>
            <a:ext cx="25603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554480" y="2240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POST /theses { title, studentId 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0" y="3246120"/>
            <a:ext cx="29260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11480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GET /students/{id}  (existsById?)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3886200"/>
            <a:ext cx="-29260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dash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114800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200 OK / 404 (verified)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23360" y="4526280"/>
            <a:ext cx="5852160" cy="0"/>
          </a:xfrm>
          <a:prstGeom prst="line">
            <a:avLst/>
          </a:prstGeom>
          <a:noFill/>
          <a:ln w="25400">
            <a:solidFill>
              <a:srgbClr val="F2A341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114800" y="41605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POST /notifications (thesisCreated)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75520" y="5166360"/>
            <a:ext cx="-5852160" cy="0"/>
          </a:xfrm>
          <a:prstGeom prst="line">
            <a:avLst/>
          </a:prstGeom>
          <a:noFill/>
          <a:ln w="25400">
            <a:solidFill>
              <a:srgbClr val="F2A341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114800" y="48006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201 Created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23360" y="5806440"/>
            <a:ext cx="-25603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554480" y="5440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201 Created (Thesis JSON)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ҮЙЛЧИЛГЭЭНИЙ БҮТЭЦ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Hexagonal / Ports &amp; Adapters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1371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adapters/in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 (HTTP орц)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60320"/>
            <a:ext cx="13716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334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 логик, validation, orchestration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83280"/>
            <a:ext cx="137160" cy="685800"/>
          </a:xfrm>
          <a:prstGeom prst="rect">
            <a:avLst/>
          </a:prstGeom>
          <a:solidFill>
            <a:srgbClr val="F2A34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564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Entity, Value object, статус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06240"/>
            <a:ext cx="137160" cy="685800"/>
          </a:xfrm>
          <a:prstGeom prst="rect">
            <a:avLst/>
          </a:prstGeom>
          <a:solidFill>
            <a:srgbClr val="2DAA7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793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AA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5720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Repository, Client интерфейс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029200"/>
            <a:ext cx="137160" cy="685800"/>
          </a:xfrm>
          <a:prstGeom prst="rect">
            <a:avLst/>
          </a:prstGeom>
          <a:solidFill>
            <a:srgbClr val="D8595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1023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adapters/out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3949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repo, HTTP client (RestTemplate)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1737360"/>
            <a:ext cx="4892040" cy="4526280"/>
          </a:xfrm>
          <a:prstGeom prst="roundRect">
            <a:avLst>
              <a:gd name="adj" fmla="val 1616"/>
            </a:avLst>
          </a:prstGeom>
          <a:solidFill>
            <a:srgbClr val="0B1E33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ThesisApplicationService.java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2194560"/>
            <a:ext cx="4617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Thesis create(CreateThesisRequest r) {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(r.title().isBlank())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IllegalArgumentException("title");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(!studentClient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.existsById(r.studentId()))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IllegalArgumentException(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"studentId does not exist");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Thesis saved = thesisRepository.save(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Thesis(null, r.title(),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ThesisStatus.PROPOSED,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r.studentId()));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notificationClient.thesisCreated(saved);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saved;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АЖИЛЛУУЛАХ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Хэрхэн ажиллуулж туршихыг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0" cy="4526280"/>
          </a:xfrm>
          <a:prstGeom prst="roundRect">
            <a:avLst>
              <a:gd name="adj" fmla="val 1616"/>
            </a:avLst>
          </a:prstGeom>
          <a:solidFill>
            <a:srgbClr val="0B1E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Sprint 13 — Monolith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clean package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shop-monolith-img 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8080:8080 \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"$PWD/data:/app/db" \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shop-server shop-monolith-img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Sprint 14 + Project III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--build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Project III — API тест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scripts/project-iii-curl-tests.sh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Зогсоох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Гадны портууд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2240280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0840" y="2359152"/>
            <a:ext cx="960120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359152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8080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18120" y="2331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frontend-service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18120" y="2651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Дэлгүүрийн нүүр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3200400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3319272"/>
            <a:ext cx="96012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3319272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8081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1812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student-service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18120" y="3611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Оюутны 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4160520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4279392"/>
            <a:ext cx="960120" cy="594360"/>
          </a:xfrm>
          <a:prstGeom prst="roundRect">
            <a:avLst>
              <a:gd name="adj" fmla="val 9231"/>
            </a:avLst>
          </a:prstGeom>
          <a:solidFill>
            <a:srgbClr val="F2A341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4279392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8082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81812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thesis-service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18120" y="4572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Дипломын API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5120640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5239512"/>
            <a:ext cx="960120" cy="594360"/>
          </a:xfrm>
          <a:prstGeom prst="roundRect">
            <a:avLst>
              <a:gd name="adj" fmla="val 9231"/>
            </a:avLst>
          </a:prstGeom>
          <a:solidFill>
            <a:srgbClr val="2DAA73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5239512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8083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18120" y="5212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notification-service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18120" y="5532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Мэдэгдлийн API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СУРГАМЖ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Юу сурсан, юу нь хүндрэлтэй байсан бэ?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94360" cy="594360"/>
          </a:xfrm>
          <a:prstGeom prst="ellipse">
            <a:avLst/>
          </a:prstGeom>
          <a:solidFill>
            <a:srgbClr val="2DAA7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85623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Нэг WAR-аас 3+ микросервис рүү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221992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Үе шаттайгаар (монолит → compose → CI/CD) шилжих стратеги ажилладаг.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74520"/>
            <a:ext cx="594360" cy="594360"/>
          </a:xfrm>
          <a:prstGeom prst="ellipse">
            <a:avLst/>
          </a:prstGeom>
          <a:solidFill>
            <a:srgbClr val="2DAA73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23760" y="185623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per service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221992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Тус тусдаа PG instance — schema холигдохгүй, scale хийхэд хялбар.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337560"/>
            <a:ext cx="594360" cy="594360"/>
          </a:xfrm>
          <a:prstGeom prst="ellipse">
            <a:avLst/>
          </a:prstGeom>
          <a:solidFill>
            <a:srgbClr val="2DAA7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37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31927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Hexagonal architecture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685032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Ports/adapters давхрага — JDBC-г HTTP-ээр амархан солиод тест бичих боломжтой.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1546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337560"/>
            <a:ext cx="594360" cy="594360"/>
          </a:xfrm>
          <a:prstGeom prst="ellipse">
            <a:avLst/>
          </a:prstGeom>
          <a:solidFill>
            <a:srgbClr val="F2A34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337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23760" y="331927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HTTP coupling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3685032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→ student дуудлага шууд хамааралтай. Async event-д шилжвэл бат бөх болно.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F2A341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63040" y="478231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Healthcheck-ын ач холбогдол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40" y="5148072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дээр depends_on + healthcheck байхгүй бол DB бэлэн болохоос өмнө apps асч fail болдог.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461772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800600"/>
            <a:ext cx="594360" cy="594360"/>
          </a:xfrm>
          <a:prstGeom prst="ellipse">
            <a:avLst/>
          </a:prstGeom>
          <a:solidFill>
            <a:srgbClr val="F2A341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800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23760" y="478231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хэмжээ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23760" y="5148072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 байхгүй бол JAR-ийн хамт Maven cache ачаалагдаж image том болно.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АНХААРАЛ ТАВЬСАНД БАЯРЛАЛАА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Асуулт байна уу?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Дэлгүүрийн систем — Sprint 13–15 ба Project III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26080" y="42976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2A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49240" y="42976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2A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up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42976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2A3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localhost:8080–8083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Илтгэгч: Дигий  •  Java • Microservices • Docker • CI/CD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2026-05-28T06:27:44Z</dcterms:created>
  <dcterms:modified xsi:type="dcterms:W3CDTF">2026-05-28T06:27:44Z</dcterms:modified>
</cp:coreProperties>
</file>